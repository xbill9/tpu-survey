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7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c6602a3-b6b5-65a3-56fe-d9c30bdc5979}">
          <p14:sldIdLst>
            <p14:sldId id="256"/>
            <p14:sldId id="257"/>
          </p14:sldIdLst>
        </p14:section>
        <p14:section name="Background" id="{a6f1ab46-e2f4-c943-01a4-74bcde21ae70}">
          <p14:sldIdLst>
            <p14:sldId id="258"/>
            <p14:sldId id="259"/>
            <p14:sldId id="260"/>
          </p14:sldIdLst>
        </p14:section>
        <p14:section name="Generations" id="{cbc028ed-5ea2-c843-0942-0003ba98145a}">
          <p14:sldIdLst>
            <p14:sldId id="261"/>
            <p14:sldId id="262"/>
            <p14:sldId id="263"/>
            <p14:sldId id="264"/>
            <p14:sldId id="265"/>
          </p14:sldIdLst>
        </p14:section>
        <p14:section name="Topologies" id="{ada37982-ee6e-dda0-d22e-e47cdebbf3ab}">
          <p14:sldIdLst>
            <p14:sldId id="266"/>
            <p14:sldId id="267"/>
            <p14:sldId id="268"/>
          </p14:sldIdLst>
        </p14:section>
        <p14:section name="Comparisons" id="{33392a18-0680-65e0-21ab-00004eaaf867}">
          <p14:sldIdLst>
            <p14:sldId id="269"/>
            <p14:sldId id="270"/>
            <p14:sldId id="271"/>
            <p14:sldId id="272"/>
            <p14:sldId id="273"/>
          </p14:sldIdLst>
        </p14:section>
        <p14:section name="Production gotchas" id="{5b254728-e0f2-f50c-8acf-82eb1a282556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ricing" id="{47618d3e-d6ad-c299-42b6-a8f2621174ab}">
          <p14:sldIdLst>
            <p14:sldId id="280"/>
            <p14:sldId id="281"/>
            <p14:sldId id="282"/>
            <p14:sldId id="283"/>
          </p14:sldIdLst>
        </p14:section>
        <p14:section name="Close" id="{a6c07da0-6798-acde-45d3-308d263ab6b8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Output tok/s, one stream, v5e-1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tok/s</c:v>
                </c:pt>
              </c:strCache>
            </c:strRef>
          </c:tx>
          <c:spPr>
            <a:solidFill>
              <a:srgbClr val="B8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EC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E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EC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BEC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bf16</c:v>
                  </c:pt>
                  <c:pt idx="1">
                    <c:v>4-bit QAT</c:v>
                  </c:pt>
                  <c:pt idx="2">
                    <c:v>fp8</c:v>
                  </c:pt>
                  <c:pt idx="3">
                    <c:v>fp8 + 4-bit emb.</c:v>
                  </c:pt>
                  <c:pt idx="4">
                    <c:v>int8 W8A8</c:v>
                  </c:pt>
                  <c:pt idx="5">
                    <c:v>int8 + 4-bit emb.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</c:v>
                </c:pt>
                <c:pt idx="1">
                  <c:v>150</c:v>
                </c:pt>
                <c:pt idx="2">
                  <c:v>182</c:v>
                </c:pt>
                <c:pt idx="3">
                  <c:v>203</c:v>
                </c:pt>
                <c:pt idx="4">
                  <c:v>220</c:v>
                </c:pt>
                <c:pt idx="5">
                  <c:v>243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Gemma 4 26B-A4B on v6e-1, output tok/s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tok/s</c:v>
                </c:pt>
              </c:strCache>
            </c:strRef>
          </c:tx>
          <c:spPr>
            <a:solidFill>
              <a:srgbClr val="B8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EC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fp8 dynamic</c:v>
                  </c:pt>
                  <c:pt idx="1">
                    <c:v>4-bit QAT W4A16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668</c:v>
                </c:pt>
                <c:pt idx="1">
                  <c:v>1283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E2B on v5e-4: 4 engines x 1 chip, output vs one TP=4 engine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streams</c:v>
                  </c:pt>
                  <c:pt idx="1">
                    <c:v>64 streams</c:v>
                  </c:pt>
                  <c:pt idx="2">
                    <c:v>256 streams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1.39</c:v>
                </c:pt>
                <c:pt idx="1">
                  <c:v>2.52</c:v>
                </c:pt>
                <c:pt idx="2">
                  <c:v>3.36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Output tok/s, 16 streams x 256 tokens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tok/s</c:v>
                </c:pt>
              </c:strCache>
            </c:strRef>
          </c:tx>
          <c:spPr>
            <a:solidFill>
              <a:srgbClr val="B8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EC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NVIDIA L4</c:v>
                  </c:pt>
                  <c:pt idx="1">
                    <c:v>TPU v6e-1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393.7</c:v>
                </c:pt>
                <c:pt idx="1">
                  <c:v>1283.3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Output tok/s per $ per hour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AMD MI300X ($1.99)</c:v>
                </c:pt>
              </c:strCache>
            </c:strRef>
          </c:tx>
          <c:spPr>
            <a:solidFill>
              <a:srgbClr val="7A8B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stream</c:v>
                  </c:pt>
                  <c:pt idx="1">
                    <c:v>4 streams</c:v>
                  </c:pt>
                  <c:pt idx="2">
                    <c:v>16 streams</c:v>
                  </c:pt>
                  <c:pt idx="3">
                    <c:v>64 streams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</c:v>
                </c:pt>
                <c:pt idx="1">
                  <c:v>487</c:v>
                </c:pt>
                <c:pt idx="2">
                  <c:v>1333</c:v>
                </c:pt>
                <c:pt idx="3">
                  <c:v>2713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TPU v5e-1 spot ($0.58)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stream</c:v>
                  </c:pt>
                  <c:pt idx="1">
                    <c:v>4 streams</c:v>
                  </c:pt>
                  <c:pt idx="2">
                    <c:v>16 streams</c:v>
                  </c:pt>
                  <c:pt idx="3">
                    <c:v>64 streams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208</c:v>
                </c:pt>
                <c:pt idx="1">
                  <c:v>711</c:v>
                </c:pt>
                <c:pt idx="2">
                  <c:v>1572</c:v>
                </c:pt>
                <c:pt idx="3">
                  <c:v>1972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TPU v6e-1 ($2.97)</c:v>
                </c:pt>
              </c:strCache>
            </c:strRef>
          </c:tx>
          <c:spPr>
            <a:solidFill>
              <a:srgbClr val="8FC9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stream</c:v>
                  </c:pt>
                  <c:pt idx="1">
                    <c:v>4 streams</c:v>
                  </c:pt>
                  <c:pt idx="2">
                    <c:v>16 streams</c:v>
                  </c:pt>
                  <c:pt idx="3">
                    <c:v>64 streams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</c:v>
                </c:pt>
                <c:pt idx="1">
                  <c:v>233</c:v>
                </c:pt>
                <c:pt idx="2">
                  <c:v>587</c:v>
                </c:pt>
                <c:pt idx="3">
                  <c:v>719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Seconds from container start to healthy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XLA compile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v6e-1, E2B</c:v>
                  </c:pt>
                  <c:pt idx="1">
                    <c:v>v5e-1, E2B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329</c:v>
                </c:pt>
                <c:pt idx="1">
                  <c:v>738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Everything else</c:v>
                </c:pt>
              </c:strCache>
            </c:strRef>
          </c:tx>
          <c:spPr>
            <a:solidFill>
              <a:srgbClr val="B8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v6e-1, E2B</c:v>
                  </c:pt>
                  <c:pt idx="1">
                    <c:v>v5e-1, E2B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181</c:v>
                </c:pt>
                <c:pt idx="1">
                  <c:v>248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v6e-1 E2B, $ per million output tokens at $2.97/hr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$/M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stream</c:v>
                  </c:pt>
                  <c:pt idx="1">
                    <c:v>8 streams</c:v>
                  </c:pt>
                  <c:pt idx="2">
                    <c:v>32 streams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4.14</c:v>
                </c:pt>
                <c:pt idx="1">
                  <c:v>0.7</c:v>
                </c:pt>
                <c:pt idx="2">
                  <c:v>0.55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2430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TPU Inference on Google Cloud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A"/>
                </a:solidFill>
              </a:rPr>
              <a:t>Generations, native precision, topologies, capacity and price, measured on 65 Gemma 4 serving rigs across v5e, v6e and v5p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C8C2"/>
                </a:solidFill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9576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Match the format to the silicon. </a:t>
            </a:r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int8 W8A8 serves Gemma 4 E2B 1.7x faster than bf16 on v5e. fp8 becomes a compute format only with TPU7x.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19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v6e-1 beats the L4 on the same checkpoint. </a:t>
            </a:r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3.3x the output tokens and 3x the KV cache on a 26B 4-bit model.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963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Capacity decides where you run. </a:t>
            </a:r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37 zones report v6e quota; 18 have v6e-1 hardware, and full-quota zones still stock out.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729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Cold start takes 8.5 to 16.5 minutes. </a:t>
            </a:r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XLA compile is 81 to 91% of engine init, so cache it or pay it on every boot.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496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Utilization sets the price. </a:t>
            </a:r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A v5e flex-start chip costs $1.31 per million tokens at one stream and $0.09 at 64.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Source: ~/gemma4-dev rigs and docs (HARDWARE.md, QUANTIZATION.md, tpu_zones_status.md, jev-tpu-31b, tpu-vllm-v6e1-2b/v5e.md), measured Aug to Oct 2026.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C2"/>
                </a:solidFill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Background and history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Ten years of TPUs, and the software path that serves models on them today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Google built the first TPU for inference in 2015; Ironwood (2025) puts inference first again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7772400" cy="0"/>
          </a:xfrm>
          <a:prstGeom prst="line">
            <a:avLst/>
          </a:prstGeom>
          <a:noFill/>
          <a:ln w="19050">
            <a:solidFill>
              <a:srgbClr val="B8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70C"/>
                </a:solidFill>
              </a:rPr>
              <a:t>2015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70966" y="1773936"/>
            <a:ext cx="201168" cy="201168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TPU v1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Inference only, 8-bit, 92 TOPS. Announced 2016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4859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2017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99666" y="1773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133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TPU v2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133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bf16 training, 180 TFLOPs per device, first pods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2019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8366" y="1773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420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TPU v3 pods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Liquid cooled, 1,024 chips, public beta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433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2021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57066" y="1773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707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TPU v4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707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Optical circuit switches, 4,096 chips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2023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5766" y="1773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94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v5e and v5p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Cost-optimized v5e; v5p with 95 GiB HBM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007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2024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14466" y="1773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281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v6e Trillium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81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4.7x v5e peak compute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70C"/>
                </a:solidFill>
              </a:rPr>
              <a:t>2025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43166" y="1773936"/>
            <a:ext cx="201168" cy="201168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568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TPU7x Ironwood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568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fp8, 192 GiB HBM. GA March 2026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658100" y="132588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2026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71866" y="1773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5532" y="2103120"/>
            <a:ext cx="973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TPU 8t and 8i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685532" y="2606040"/>
            <a:ext cx="973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350"/>
                </a:solidFill>
              </a:rPr>
              <a:t>Announced April 2026; 8i for inference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BEBDD"/>
          </a:solidFill>
          <a:ln w="12700">
            <a:solidFill>
              <a:srgbClr val="FBEB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</a:rPr>
              <a:t>Orange marks the inference-first chips. </a:t>
            </a:r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v1 ran 8-bit inference only; Google launched Ironwood as its “first TPU for the age of inference”.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Google Cloud blog 2016-05-19, 2017-05-17, 2019-05-08, 2023-08-29, 2023-12-06, 2024-05-15; blog.google 2021-05-19, 2025-04-09, 2026-04-22; Jouppi et al., arXiv 1704.04760; TPU release notes.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vLLM reaches the TPU through tpu-inference, a JAX backend that XLA compiles per input shape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Client 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OpenAI-compatible HTTP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0195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vLLM 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Scheduler, batching, KV cache paging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56946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tpu-inference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JAX model code; PyTorch path as fallback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36976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23697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XLA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Compiles one program per input shape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04488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9044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TPU VM 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Compute Engine or GKE, 1 to 8 chips per host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430"/>
                </a:solidFill>
              </a:rPr>
              <a:t>tpu-inference v0.31.0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430"/>
                </a:solidFill>
              </a:rPr>
              <a:t>shipped 2026-10-08. v5e, v6e and v7x are recommended; v5p is experimental.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430"/>
                </a:solidFill>
              </a:rPr>
              <a:t>Gemma 4 E2B, E4B, 26B-A4B and 31B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430"/>
                </a:solidFill>
              </a:rPr>
              <a:t>pass its release matrix.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430"/>
                </a:solidFill>
              </a:rPr>
              <a:t>Compile is 81 to 91% of engine start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430"/>
                </a:solidFill>
              </a:rPr>
              <a:t>on v6e and v5e for E2B.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430"/>
                </a:solidFill>
              </a:rPr>
              <a:t>Pin an image digest.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430"/>
                </a:solidFill>
              </a:rPr>
              <a:t>The moving nightly tag broke two 4-bit builds on 2026-10-02.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github.com/vllm-project/tpu-inference (release matrix updated 2026-08-27); compile 329 of 404 s (v6e-1) and 738 of 814 s (v5e-1), tpu-jax-v5e1-2b and tpu-vllm-v5e1-2b reports; gemma4-dev/CLAUDE.md.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C2"/>
                </a:solidFill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Families, generations and native precision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What each chip computes natively, and what that means for quantized serving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TPU7x carries about 13x the HBM of v5e at 10x the hourly price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88720"/>
                <a:gridCol w="1280160"/>
                <a:gridCol w="1920240"/>
                <a:gridCol w="91440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HBM per chip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bf16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low precision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 TFLOPs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int8, 393 TOPs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$1.20/hr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 Trillium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 TFLOPs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int8, 1,836 TOPs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$2.70/hr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 TFLOPs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int8; fp8 at bf16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$4.20/hr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TPU7x Ironwood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2,307 TFLOPs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fp8, 4,614 TFLOPs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$12.00/hr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Single-host shapes used here: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v5litepod-1 and -4, v6e-1, -4 and -8. The smallest v5p slice is v5p-8 (4 chips, quota counted in cores).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v6e on-demand varies by region: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$2.70 in us-east, $2.97 in europe-west4, $3.24 in europe-west2.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docs.cloud.google.com/tpu/docs v5e, v5p, v6e, tpu7x and cloud.google.com/tpu/pricing, retrieved 2026-10-12; regional rates from Billing Catalog, gemma4-dev/HARDWARE.md:51,73-75.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Only int8 on v5e and v6e, and fp8 on TPU7x, buy compute; other formats widen to bf16 first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280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</a:rPr>
              <a:t>v5e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280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</a:rPr>
              <a:t>v6e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280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</a:rPr>
              <a:t>v5p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280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</a:rPr>
              <a:t>TPU7x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bf16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62456" y="164592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62456" y="164592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native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31136" y="164592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31136" y="164592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native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99816" y="164592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99816" y="164592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native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68496" y="164592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68496" y="164592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native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945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int8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62456" y="219456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62456" y="219456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2x bf16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31136" y="219456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31136" y="219456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2x bf16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99816" y="219456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99816" y="219456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native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68496" y="219456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68496" y="219456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native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7432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fp8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62456" y="274320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62456" y="274320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storage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31136" y="274320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31136" y="274320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storage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99816" y="274320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FBEBDD"/>
          </a:solidFill>
          <a:ln w="12700">
            <a:solidFill>
              <a:srgbClr val="FBEB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99816" y="274320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570C"/>
                </a:solidFill>
              </a:rPr>
              <a:t>= bf16 rate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68496" y="274320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68496" y="274320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2x bf16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2918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int4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362456" y="329184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362456" y="329184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storage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31136" y="329184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31136" y="329184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storage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99816" y="329184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99816" y="329184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storage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68496" y="3291840"/>
            <a:ext cx="795528" cy="475488"/>
          </a:xfrm>
          <a:prstGeom prst="roundRect">
            <a:avLst>
              <a:gd name="adj" fmla="val 9615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68496" y="3291840"/>
            <a:ext cx="795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storage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120640" y="12801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“2x bf16”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is a native matmul path at double the bf16 peak, the only real speedup.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“storage”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saves HBM and bandwidth, then dequantizes to bf16 before every matmul.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The fused 4-bit kernel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(gmm_v2) runs only when the quant group is narrower than the MXU: 128 columns on v5e, 256 on v6e.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fp8 KV cache on v6e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logs fp8 but allocates bf16.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gemma4-dev/HARDWARE.md:13-30 (Google peak tables checked 2026-08-10); QUANTIZATION.md:86-88, 246-249, 374-378. TPU7x int8 and fp8 from docs.cloud.google.com/tpu/docs/tpu7x; less directly verified in the rigs.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On v5e, int8 serves Gemma 4 E2B 1.7x faster than bf16, and fp8 trails int8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06440" y="128016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Accuracy holds: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0.683 for bf16 against 0.677 for int8 + 4-bit embeddings on a 3,880-record suite.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Same at 12B: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fp8 serves 518 tok/s at 16 streams against 624 for int8, 17% slower at the same file size.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12B int8 (11.31 GiB)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is the largest model served on one 16 GB v5e chip.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Source: gemma4-dev/QUANTIZATION.md:606-645, vLLM 0.29.1rc1 on vllm-tpu, measured 2026-09-29/30. 4-bit QAT row is q4w4a16emb4.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On v6e, the fused 4-bit kernel doubles 26B throughput over fp8 and holds 15.6x the KV cache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3840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48056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90288" y="12893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</a:rPr>
              <a:t>17.43 GiB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90288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4-bit weights, against 27.99 GiB for fp8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2084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30568" y="12893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</a:rPr>
              <a:t>53,888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30568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KV tokens, against 3,456 for fp8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423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Accuracy: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75.3% for 4-bit, 76.0% for fp8.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Without the fused kernel,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4-bit served at 0.3 to 0.6x bf16.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The stock image refuses W4A16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(NotImplementedError); it took tpu-inference PRs #3299, #3653 and #3660.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Source: gemma4-dev/QUANTIZATION.md:208-213, 232, 352-355; 16 concurrent requests x 256 tokens, measured 2026-09-26.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C2"/>
                </a:solidFill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Topologies and slices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Which slice each Gemma 4 size needs, and when more chips stop helping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Single-host slices serve every Gemma 4 size; weight size picks the slice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173736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v5e-1 (16 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v6e-1 (32 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v6e-4, TP=4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E2B, E4B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 or int8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 or 4-bit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 (22.18 GiB)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26B-A4B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4-bit, 201 tok/s, 30 min boot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4-bit, 1,283 tok/s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bf16, 1,982 tok/s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4-bit, 500 tok/s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bf16, 2,031 tok/s¹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planned, unmeasured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Topologies: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v5litepod-4 is 2x2, v6e-8 is 2x4, v5p-8 is 2x2x1. Every rig here is one host.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31B bf16 needs 4+ chips: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57.7 GiB of weights against 31.24 GiB usable per v6e chip.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at 16 concurrent requests. ¹ at 256 concurrent, 32-token prompts. Sources: gemma4-dev/QUANTIZATION.md:240, 301-303, 359-365; MODELS.md:676-682, 739-756; gce-vllm-v6e8-31b REPORT 2026-08-25; HARDWARE.md:185, NAMING.md:220-225.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Small models scale out: four one-chip E2B engines beat TP=4 by 3.4x at 256 streams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Why: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E2B has one KV head. It cannot shard, so TP=4 holds four copies of the KV cache.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Bigger models do gain: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12B at TP=4 on v5e-4 serves 2.25x the v5e-1 output at one stream and 1.70x at 16.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And hold more context: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122,624 KV tokens against 9,728 on one chip.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Source: gemma4-dev/HARDWARE.md:152-168, MODELS.md:241-242, tpu-vllm-v5e4-12b-w8a8emb4/README.md:33-35; measured 2026-10-02.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C2"/>
                </a:solidFill>
              </a:rPr>
              <a:t>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Against other accelerators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GCP L4 and Blackwell, then CUDA, AMD ROCm and AWS Inferentia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On the same 26B 4-bit checkpoint, a v6e-1 serves 3.3x the tokens of a GCP L4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3840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48056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90288" y="12893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</a:rPr>
              <a:t>3.0x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90288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KV cache: 53,888 tokens against 17,990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2084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30568" y="12893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</a:rPr>
              <a:t>58 s vs 139 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30568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3,880-record suite, v6e-1 against L4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423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Same checkpoint, flags and client;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different kernels: gmm_v2 on TPU, Marlin on L4.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The L4 ran stock vLLM 0.30.0;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the TPU needed three tpu-inference patches.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List price per hour: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v6e $2.70, L4 (g2-standard-4) $0.71.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jev-tpu-31b/results/2026-09-26-moe2-evidence/run.log:165 and 2026-09-26-gpu-l4-evidence/run.log:167 (L4 on g2-standard-8); QUANTIZATION.md:388-394; prices cloud.google.com, retrieved 2026-10-12.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Blackwell on GCP costs more per hour than v6e; none of these rigs has measured it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280160"/>
                <a:gridCol w="128016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Accelerator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Flex-start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here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L4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g2-standard-4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v5e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ct5lp-hightpu-1t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v6e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ct6e-standard-1t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PRO 6000 (Blackwell)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g4-standard-48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B200 (Blackwell), per GPU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a4-highgpu-8g ÷ 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offered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TPU7x Ironwood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tpu7x-standard-4t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Per accelerator-hour. Blackwell adds fp4 arithmetic; Google's TPU7x docs list bf16 and fp8 only, and TPU7x is the first TPU with fp8 math.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cloud.google.com/products/compute/pricing/accelerator-optimized (us-central1) and cloud.google.com/tpu/pricing, retrieved 2026-10-12; fp4 note gemma4-dev/QUANTIZATION.md:943; fp8 HARDWARE.md:18.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On E2B bf16, MI300X leads raw speed, and v5e at spot price leads tokens per dollar to 16 streams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80760" y="1280160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Raw speed, one stream: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MI300X 305, v6e 199, v5e 120, L4 46 tok/s.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L4 at spot ($0.94):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49 and 187 tok/s per $ per hour at 1 and 4 streams.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At list prices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(v5e $1.20), MI300X returns 1.4 to 2.9x v5e's tokens per dollar.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Different vLLM builds, hosts and repeat counts per platform; read as direction, not an A/B result. MI300X on DigitalOcean, L4 on AWS g6.2xlarge. Source: gpu-vllm-mi300x-2b/devto-gemma4-mi300x-dollar-hour.md:200-223; vllm bench serve, 1024 in / 128 out.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Each software stack fails in its own way: TPU compiles longest, Neuron can fail silently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600200"/>
                <a:gridCol w="160020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(vLLM + JAX)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CUDA (L4)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ROCm (MI300X)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Neuron (inf2, trn1)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to healthy, E2B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 s v6e, 986 s v5e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160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 s on trn1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E2B tok/s, 1 stream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 v6e, 120 v5e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 to 61 on inf2¹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4-bit needed patches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26B 4-bit loads stock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fp8 only as fnuz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vLLM-Neuron cannot load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OOM after a long compile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sm_89 missing; runs sm_86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AITER flag 0.97 to 0.99x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gather returns zeros, HTTP 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¹ Custom client, not vllm bench. Sources: tpu-vllm-v5e1-2b and tpu-jax-v5e1-2b reports; gpu-vllm-g6-2b report 2026-08-30; devto-gemma4-mi300x-dollar-hour.md:247; HARDWARE.md:645-683, 722-749; tpu-vllm-trn1-2b smoke REPORT 2026-10-05; tpu-pytorch-inf2-2b/README.md:102-105.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C2"/>
                </a:solidFill>
              </a:rPr>
              <a:t>05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Production gotchas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Capacity, control planes, cold start and serving flags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Quota is not availability: a create must pass three gates, and quota is the weakest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56819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1. Hardware in the zone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37 zones report v6e quota. Only 18 offer v6e-1 hardware; Google's docs list 8.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15681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2. Provisioning model offered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us-central1-b has hardware, quota and a flex-start price, and rejects flex-start. v5e flex-start: 1 zone of 44.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BEBDD"/>
          </a:solidFill>
          <a:ln w="12700">
            <a:solidFill>
              <a:srgbClr val="FBEB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5681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3. Capacity right now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3 of 5 zones holding 1,536 chips of quota returned stockout. One granted, then stocked out a minute later.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</a:rPr>
              <a:t>Probe with spot, not flex-start. </a:t>
            </a:r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A flex-start create with no quota queues as PENDING, exactly like a stockout; spot fails fast with “reason: stockout”.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gemma4-dev/tpu-vllm-v6e1-2b/tpu_zones_status.md:15-50 (2026-08-10); TPU.md:286-299; request-quota.sh:40-43 (verified 2026-08-11).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Ask for fewer chips: 8 v6e chips expired after 26 minutes where 4 were granted at once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25880"/>
                <a:gridCol w="2148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v6e-1 flex, Compute Engine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in 105 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v5e-1 flex-start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us-west4-a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 within 2 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v6e-1 flex-start, GKE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europe-west4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 in 4 min 18 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v6e-1 flex-start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europe-west4-a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capacity after 30 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v5e-1 flex-start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us-west4-a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 after 1 h 22 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v6e-8 flex-start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europe-west4-a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Expired after 26 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v6e-8 spot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us-central1-b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Preempted at about 6 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v6e-4 flex-start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europe-west4-a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 instantly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3444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Same zone, same hour: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8 chips stocked out and 4 were granted under an hour later.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Keep queued requests.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Flex-start capacity has taken up to 2 hours, with no published SLA.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Quota itself came fast: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automated decisions in seconds, approved in two regions and denied in three.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gce-vllm-v6e8-31b REPORT 2026-08-25:111-119; jev-tpu/PREREGISTRATION.md:59; jev-tpu-v5e1/PREREGISTRATION.md:143; gke first-provision README:108; gce-jaxrust-v6e1-2b article:97; CLAUDE.md:114; TPU.md:259-283.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The control plane is changing, and most of its failures are quiet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9786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Cloud TPU API is frozen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Bug fixes only. TPU7x runs only on Compute Engine or GKE.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1234440"/>
            <a:ext cx="457200" cy="45720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57800" y="119786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v5e has no Compute Engine path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Listed in 26 zones; create refused for this user agent.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29514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Two disjoint quota pools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us-east5: 512 v6e chips via the TPU API, 0 via Compute Engine.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231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29514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RUNNING means booted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A GKE node is Ready about 10 min before the model serves.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2044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39242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Boot defaults break vLLM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10 GB disk, no Docker on PATH; a missing scope spins 30 min.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663440" y="3429000"/>
            <a:ext cx="457200" cy="45720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52044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39242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Nothing stops billing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GKE pools and old queued resources bill until deleted.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docs.cloud.google.com/tpu/docs (TPU API notice); gemma4-dev/TPU.md:15-19, 99-112, 181-191, 307-375; request-quota.sh:7-10; gke-vllm-v6e1-2b/CLAUDE.md:76-77, 263-315; gce-vllm-v5e1-2b/CLAUDE.md:151-152.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XLA compile is most of a cold start, so cache it and stage weights in-region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118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6667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</a:rPr>
              <a:t>−42%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</a:rPr>
              <a:t>v5e restart with a mounted compile cache, 857 to 497 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06040" y="36118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15768" y="3666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5.6 min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715768" y="4114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</a:rPr>
              <a:t>31B weights from in-region GCS, against 60 to 90 min from Hugging Face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GKE from nothing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to first token took about 28 min: cluster 12, node pool 6, model 10.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The default compile cache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(197 MB) lives inside the container and dies with docker rm.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C2430"/>
                </a:solidFill>
              </a:rPr>
              <a:t>A cold start costs money: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430"/>
                </a:solidFill>
              </a:rPr>
              <a:t>$0.19 to $0.24 per v6e boot at flex-start rates.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tpu-jax-v5e1-2b report 2026-07-21:197-209 (v6e); tpu-vllm-v5e1-2b report 2026-08-06:903-905 and SERVING-PARAMS.md:77-78; gce-vllm-v6e8-31b REPORT:100-103; gke first-provision README:25-29; tpu-pytorch-v6e1-2b/devto-post.md:128.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Serving flags that work on GPUs fail late on TPU, often after a full compile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--gpu-memory-utilization 0.95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234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Failed on v5e after a 691 s compile, twice. 0.92 serves.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8928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--max-num-batched-tokens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892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vLLM applied generic defaults (2048/256) silently. Gemma 4 needs 2,496 or the server refuses to start.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5511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--kv-cache-dtype fp8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5511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On v6e it logs fp8 and allocates bf16. On v5e 12B it doubled KV tokens, 9,728 to 18,944.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2095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Scoped VMEM, 115.2 MB per kernel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209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A 12B 4-bit layer needed 117.6 MB; it served after lowering the tile fraction to 0.85.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67912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8679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vllm/vllm-tpu:nightly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867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</a:rPr>
              <a:t>Broke two 4-bit QAT builds at model load on 2026-10-02. Pin a digest.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gemma4-dev/tpu-vllm-v5e1-2b/SERVING-PARAMS.md:42; tpu-vllm-v6e1-2b/SERVING-PARAMS.md:216-233; QUANTIZATION.md:374-378, 1149-1155; HARDWARE.md:115-118; MODELS.md:701; CLAUDE.md:25-27.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C2"/>
                </a:solidFill>
              </a:rPr>
              <a:t>06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Pricing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List rates by provisioning model, and what a million tokens costs in practice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Flex-start halves on-demand on every generation; a 3-year commitment cuts it 55%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 per chip-hour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Flex-start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1-yr CUD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3-yr CUD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 read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 Trillium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TPU7x Ironwood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Flex-start can undercut spot: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v6e in us-east5 lists $1.35 flex-start against $1.40 spot.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Flex-start runs 10 min to 7 days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and bills until deleted; v6e flex-start is published in 8 regions.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TPU7x spot, flex-start and calendar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are behind an allowlist.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List rates: cloud.google.com/tpu/pricing, retrieved 2026-10-12 (v5e and TPU7x us-central1; v6e and v5p us-east1/us-east5). Spot: Billing Catalog reads, v5e us-west4 2026-08-06, v6e us-east5 (HARDWARE.md:75). TPU.md:77, 377; HARDWARE.md:382.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Idle capacity sets the price: one stream costs 7.5x more per token than 32 on v6e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212080" y="12801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v5e at flex-start ($0.60):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$1.31 per million at one stream, $0.09 at 64, a 14.8x spread.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26B on v6e-1: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4-bit $0.29 flex-start or $0.64 on-demand; fp8 $0.56 or $1.23.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430"/>
                </a:solidFill>
              </a:rPr>
              <a:t>Break-even with Gemini 2.5 Flash-Lite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430"/>
                </a:solidFill>
              </a:rPr>
              <a:t>($0.40/M) needs about 940 tok/s sustained on a flex-start v6e.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Chip cost only. Sources: gke-vllm-v6e1-2b first-provision README:85-89 (2026-08-25); tpu-vllm-v6e1-2b/v5e.md:304-318; jev-tpu-31b/results/2026-09-26-26b-ARTICLE-FIGURES.md:101-104; tpu-pytorch-v6e1-2b/devto-post.md:126.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Bills grow from meters nobody watches: idle pools, side fees and stale rate tables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978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Flex-start bills until deleted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The rigs cap runs at 4 hours with --max-run-duration instead of the 7-day maximum.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1234440"/>
            <a:ext cx="457200" cy="45720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57800" y="11978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GKE adds two meters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System node plus cluster fee: $0.2475/hr, about $181 a month before any chip.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3408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Slices bill per chip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A v6e-8 at flex-start is $10.80/hr; a 4-hour cap is about $43.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63440" y="2377440"/>
            <a:ext cx="457200" cy="45720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688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3408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Catalog names hide the model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Flex-start is sold as “DWS Defined Duration”; spot as “attached to Spot Preemptible VMs”.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4838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Rate tables go stale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One rig hardcoded v5e at $0.12/hr against a $1.20 list rate, 10x off.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663440" y="3520440"/>
            <a:ext cx="457200" cy="457200"/>
          </a:xfrm>
          <a:prstGeom prst="ellipse">
            <a:avLst/>
          </a:prstGeom>
          <a:solidFill>
            <a:srgbClr val="C2570C"/>
          </a:solidFill>
          <a:ln w="12700">
            <a:solidFill>
              <a:srgbClr val="C2570C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61188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4838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Rejected creates are free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4350"/>
                </a:solidFill>
              </a:rPr>
              <a:t>A refused or stocked-out create bills nothing; a preempted spot VM bills its minutes.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6451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Sources: tpu-pytorch-v6e1-2b/devto-article.md:30; tpu-vllm-v6e1-2b/v5e.md:322; gke-vllm-v6e1-2b/CLAUDE.md:353 and first-provision README:115-116; gce-vllm-v6e8-31b/DEPLOY.md:79-80; tpu-vllm-v5e1-2b/CLAUDE.md:233-239; HARDWARE.md:430; jev-tpu/evidence-v6e1/cost.txt.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So, which one?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60604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E2B or E4B, cost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v5e-1, int8 W8A8, one engine per chip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1.7x bf16 speed; lowest $/M at spot or flex-start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12B to 31B on one chip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v6e-1, 4-bit QAT W4A16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26B at 1,283 tok/s; 31B fits in 21.67 GiB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 26B or 31B, long context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v6e-4, TP=4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~2,000 tok/s and 235K KV tokens at 26B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fp8 compute, 192 GiB per chip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TPU7x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TPU with fp8 math; allowlisted, unmeasured 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software, fast boot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or MI300X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loads 26B 4-bit unpatched; 160 to 334 s to healthy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For any of them: probe capacity with spot, ask for the smallest slice that fits, pin the image digest and mount the compile cache.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Sources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Measured rigs and notes: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~/gemma4-dev (git, last commit 2026-10-11): HARDWARE.md, QUANTIZATION.md, MODELS.md, TPU.md, NAMING.md, request-quota.sh, tpu-vllm-v5e1-*, tpu-vllm-v5e4-*, tpu-vllm-v6e1-2b, gce-vllm-v6e*, gke-vllm-v6e1-2b, jev-tpu, jev-tpu-31b, gpu-vllm-g6-2b, gpu-vllm-mi300x-2b, tpu-pytorch-inf2-2b, tpu-*-trn1-2b.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Google documentation, retrieved 2026-10-12: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docs.cloud.google.com/tpu/docs (v2, v3, v4, v5e, v5p, v6e, tpu7x, release notes); cloud.google.com/tpu/pricing; cloud.google.com/spot-vms/pricing; cloud.google.com/products/compute/pricing/accelerator-optimized.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History: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Google Cloud blog posts dated 2016-05-19, 2017-05-17, 2019-05-08, 2019-08-23, 2023-04-05, 2023-08-29, 2023-12-06, 2024-05-15; blog.google 2021-05-19, 2025-04-09, 2026-04-22; cloud.google.com/transform TPU history (2024-07-31); Jouppi et al., In-Datacenter Performance Analysis of a TPU, arXiv 1704.04760.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</a:rPr>
              <a:t>Software: </a:t>
            </a:r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</a:rPr>
              <a:t>github.com/vllm-project/tpu-inference, v0.31.0 (2026-10-08). AWS inf2.xlarge rate from the AWS Pricing API, effective 2026-10-01.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U Survey">
  <a:themeElements>
    <a:clrScheme name="TPU Survey">
      <a:dk1>
        <a:srgbClr val="1C2430"/>
      </a:dk1>
      <a:lt1>
        <a:srgbClr val="FFFFFF"/>
      </a:lt1>
      <a:dk2>
        <a:srgbClr val="13212B"/>
      </a:dk2>
      <a:lt2>
        <a:srgbClr val="FAFAFA"/>
      </a:lt2>
      <a:accent1>
        <a:srgbClr val="0E7C7B"/>
      </a:accent1>
      <a:accent2>
        <a:srgbClr val="C2570C"/>
      </a:accent2>
      <a:accent3>
        <a:srgbClr val="B8BEC5"/>
      </a:accent3>
      <a:accent4>
        <a:srgbClr val="3B82A0"/>
      </a:accent4>
      <a:accent5>
        <a:srgbClr val="7A8B99"/>
      </a:accent5>
      <a:accent6>
        <a:srgbClr val="A3B8B2"/>
      </a:accent6>
      <a:hlink>
        <a:srgbClr val="0E7C7B"/>
      </a:hlink>
      <a:folHlink>
        <a:srgbClr val="5B6B78"/>
      </a:folHlink>
    </a:clrScheme>
    <a:fontScheme name="TPU Surve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TPU Inference on Google Cloud</dc:title>
  <dc:subject>PptxGenJS Presentation</dc:subject>
  <dc:creator>PptxGenJS</dc:creator>
  <cp:lastModifiedBy>PptxGenJS</cp:lastModifiedBy>
  <cp:revision>1</cp:revision>
  <dcterms:created xsi:type="dcterms:W3CDTF">2026-10-12T18:18:55Z</dcterms:created>
  <dcterms:modified xsi:type="dcterms:W3CDTF">2026-10-12T18:18:55Z</dcterms:modified>
</cp:coreProperties>
</file>